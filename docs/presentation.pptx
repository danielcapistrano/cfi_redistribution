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1" r:id="rId14"/>
    <p:sldId id="272" r:id="rId15"/>
    <p:sldId id="273" r:id="rId16"/>
    <p:sldId id="275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6" r:id="rId25"/>
    <p:sldId id="288" r:id="rId26"/>
    <p:sldId id="289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58" autoAdjust="0"/>
  </p:normalViewPr>
  <p:slideViewPr>
    <p:cSldViewPr snapToGrid="0" snapToObjects="1">
      <p:cViewPr varScale="1">
        <p:scale>
          <a:sx n="160" d="100"/>
          <a:sy n="160" d="100"/>
        </p:scale>
        <p:origin x="7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93/ijpor/edae055" TargetMode="External"/><Relationship Id="rId3" Type="http://schemas.openxmlformats.org/officeDocument/2006/relationships/hyperlink" Target="https://doi.org/10.1080/13501763.2025.2490811" TargetMode="External"/><Relationship Id="rId7" Type="http://schemas.openxmlformats.org/officeDocument/2006/relationships/hyperlink" Target="https://doi.org/10.1016/j.ssresearch.2022.102746" TargetMode="External"/><Relationship Id="rId2" Type="http://schemas.openxmlformats.org/officeDocument/2006/relationships/hyperlink" Target="https://doi.org/10.1111/j.1467-9477.2008.00211.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7/S1755773920000120" TargetMode="External"/><Relationship Id="rId5" Type="http://schemas.openxmlformats.org/officeDocument/2006/relationships/hyperlink" Target="https://doi.org/10.1017/9781009428682" TargetMode="External"/><Relationship Id="rId4" Type="http://schemas.openxmlformats.org/officeDocument/2006/relationships/hyperlink" Target="https://doi.org/10.1017/978110861388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Public support for welfare and redistributive policies in Ireland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Daniel Capistrano, Bertrand Maître and Helen Russell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Is there public support for reducing income differences in Ireland?</a:t>
            </a:r>
          </a:p>
          <a:p>
            <a:pPr lvl="1"/>
            <a:r>
              <a:t>Who supports more?</a:t>
            </a:r>
            <a:br/>
            <a:endParaRPr/>
          </a:p>
          <a:p>
            <a:pPr lvl="1"/>
            <a:r>
              <a:t>Who should benefit?</a:t>
            </a:r>
            <a:br/>
            <a:endParaRPr/>
          </a:p>
          <a:p>
            <a:pPr lvl="1"/>
            <a:r>
              <a:t>Can support change?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Literature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Societal level influences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Higher support for redistribution in countries with higher inequality (Velev and Schmidt-Catran 2024; Finseraas 2009)</a:t>
            </a:r>
          </a:p>
          <a:p>
            <a:pPr lvl="0"/>
            <a:r>
              <a:t>Support for redistribution remained apparently stable over time (Lupu and Pontusson 2023) and could be related to lack of major political reaction to income inequality.</a:t>
            </a:r>
          </a:p>
          <a:p>
            <a:pPr lvl="0"/>
            <a:r>
              <a:t>Oorschot and Roosma (2017) note that support for welfare policies, social transfers and redistribution is conditional on the social legitimacy of these policies’ target groups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Socio-demographic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Women are more progressive in relation to policy preferences and support for redistribution (Shorrocks and Grasso 2020; Inglehart 2018; Grasso and Shorrocks 2025)</a:t>
            </a:r>
          </a:p>
          <a:p>
            <a:pPr lvl="0"/>
            <a:r>
              <a:t>Steele, Cohen, and Van Der Naald (2022) find that older respondents are more favourable of income redistribution.</a:t>
            </a:r>
          </a:p>
          <a:p>
            <a:pPr lvl="0"/>
            <a:r>
              <a:t>Grasso and Shorrocks (2025) highlights the association between gender and generation, with the cohorts of women born after 1946 being more supportive of redistribution compared to men in their cohorts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b="1"/>
              <a:t>European Social Survey (2002 - 2024)</a:t>
            </a:r>
            <a:br/>
            <a:endParaRPr/>
          </a:p>
          <a:p>
            <a:pPr lvl="0"/>
            <a:r>
              <a:t>European Election Studies - Voter Survey</a:t>
            </a:r>
            <a:br/>
            <a:endParaRPr/>
          </a:p>
          <a:p>
            <a:pPr lvl="0"/>
            <a:r>
              <a:t>Eurobarometer</a:t>
            </a:r>
            <a:br/>
            <a:endParaRPr/>
          </a:p>
          <a:p>
            <a:pPr lvl="0"/>
            <a:r>
              <a:t>National Election and Democracy Study</a:t>
            </a:r>
          </a:p>
        </p:txBody>
      </p:sp>
      <p:pic>
        <p:nvPicPr>
          <p:cNvPr id="4" name="Picture 1" descr="./img/illu_es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Key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Support for government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3 in 4</a:t>
            </a:r>
            <a:br/>
            <a:r>
              <a:t>Irish residents agree that the </a:t>
            </a:r>
            <a:r>
              <a:rPr i="1"/>
              <a:t>government should reduce differences in income</a:t>
            </a:r>
            <a:r>
              <a:t>.</a:t>
            </a:r>
          </a:p>
        </p:txBody>
      </p:sp>
      <p:pic>
        <p:nvPicPr>
          <p:cNvPr id="4" name="Picture 1" descr="./img/fig_c2_eumap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48200" y="1574800"/>
            <a:ext cx="40386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Agreement by sex 2002–2024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Considering all 11 rounds of the ESS together, there is a significantly higher support for redistribution among female respondents compared to male respondents.</a:t>
            </a:r>
          </a:p>
        </p:txBody>
      </p:sp>
      <p:pic>
        <p:nvPicPr>
          <p:cNvPr id="4" name="Picture 1" descr="./img/fig_c2_sex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48200" y="1206500"/>
            <a:ext cx="4038600" cy="336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Agreement by SES 2002-2024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analysis by social class, household income, or “financial situation” show a negative relationship between SES and support for redistribution.</a:t>
            </a:r>
          </a:p>
        </p:txBody>
      </p:sp>
      <p:pic>
        <p:nvPicPr>
          <p:cNvPr id="4" name="Picture 1" descr="./img/fig_c2_class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positive 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Born in Ireland</a:t>
            </a:r>
          </a:p>
          <a:p>
            <a:pPr lvl="0"/>
            <a:r>
              <a:rPr dirty="0"/>
              <a:t>Younger</a:t>
            </a:r>
          </a:p>
          <a:p>
            <a:pPr lvl="0"/>
            <a:r>
              <a:rPr dirty="0"/>
              <a:t>Left of the political scale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Deservingness and beliefs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Who should receive higher priority from the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…government should be least responsible for the unemployed compared to working parents and older citizens.</a:t>
            </a:r>
          </a:p>
        </p:txBody>
      </p:sp>
      <p:pic>
        <p:nvPicPr>
          <p:cNvPr id="4" name="Picture 1" descr="./img/fig_c3_deservingness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800600" y="1193800"/>
            <a:ext cx="373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Beliefs about social benefits</a:t>
            </a:r>
          </a:p>
        </p:txBody>
      </p:sp>
      <p:pic>
        <p:nvPicPr>
          <p:cNvPr id="3" name="Picture 1" descr="./img/fig_c3_benefits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Perceptions on fairness</a:t>
            </a:r>
          </a:p>
        </p:txBody>
      </p:sp>
      <p:pic>
        <p:nvPicPr>
          <p:cNvPr id="3" name="Picture 1" descr="./img/fig_c3_fairness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1 in 3</a:t>
            </a:r>
            <a:br/>
            <a:r>
              <a:t>Irish residents indicated that they </a:t>
            </a:r>
            <a:r>
              <a:rPr i="1"/>
              <a:t>agree with higher taxes if it means more or better public services</a:t>
            </a:r>
            <a:r>
              <a:t>. This is the 6th highest percentage across 27 EU countries.</a:t>
            </a:r>
          </a:p>
          <a:p>
            <a:pPr marL="0" lvl="0" indent="0">
              <a:buNone/>
            </a:pPr>
            <a:r>
              <a:t>Source: Authors’ own analysis of the Eurobarometer Flash Survey 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Change over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Support for government action</a:t>
            </a:r>
          </a:p>
        </p:txBody>
      </p:sp>
      <p:pic>
        <p:nvPicPr>
          <p:cNvPr id="3" name="Picture 1" descr="./img/fig_c4_eutime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2197100" y="1193800"/>
            <a:ext cx="474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COVID19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br/>
            <a:r>
              <a:t>Those who experienced job loss during the COVID19 pandemic are more supportive of redistribution, regardless of their financial situation or social class.</a:t>
            </a:r>
          </a:p>
        </p:txBody>
      </p:sp>
      <p:pic>
        <p:nvPicPr>
          <p:cNvPr id="4" name="Picture 1" descr="./img/fig_c4_covid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48200" y="1206500"/>
            <a:ext cx="4038600" cy="336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Government campaign</a:t>
            </a:r>
          </a:p>
        </p:txBody>
      </p:sp>
      <p:pic>
        <p:nvPicPr>
          <p:cNvPr id="3" name="Picture 1" descr="./img/dsp_bu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06600" y="1193800"/>
            <a:ext cx="513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Government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… seven-day exponential moving average of three variables in the 30-day time window around the launch of the campaign on 17 April 2017.</a:t>
            </a:r>
          </a:p>
        </p:txBody>
      </p:sp>
      <p:pic>
        <p:nvPicPr>
          <p:cNvPr id="4" name="Picture 1" descr="./img/fig_c4_dsp_mean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5461000" y="1193800"/>
            <a:ext cx="242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Government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statistically significant decrease on the level of agreement that social benefits prevents poverty among interviews conducted after the launch of the campaign compared to those interviewed before the launch.</a:t>
            </a:r>
          </a:p>
        </p:txBody>
      </p:sp>
      <p:pic>
        <p:nvPicPr>
          <p:cNvPr id="4" name="Picture 1" descr="./img/fig_c4_dsp_model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800600" y="1193800"/>
            <a:ext cx="373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High support for government action to reduce income differences</a:t>
            </a:r>
            <a:br/>
            <a:endParaRPr/>
          </a:p>
          <a:p>
            <a:pPr lvl="0"/>
            <a:r>
              <a:t>Negative stereotypes about welfare recipients may undermine this support</a:t>
            </a:r>
            <a:br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Finseraas, Henning. 2009. “Income Inequality and Demand for Redistribution: A Multilevel Analysis of European Public Opinion.” </a:t>
            </a:r>
            <a:r>
              <a:rPr i="1"/>
              <a:t>Scandinavian Political Studies</a:t>
            </a:r>
            <a:r>
              <a:t> 32 (1): 94–119. </a:t>
            </a:r>
            <a:r>
              <a:rPr>
                <a:hlinkClick r:id="rId2"/>
              </a:rPr>
              <a:t>https://doi.org/10.1111/j.1467-9477.2008.00211.x</a:t>
            </a:r>
            <a:r>
              <a:t>.</a:t>
            </a:r>
          </a:p>
          <a:p>
            <a:pPr marL="0" lvl="0" indent="0">
              <a:buNone/>
            </a:pPr>
            <a:r>
              <a:t>Grasso, Maria, and Rosalind Shorrocks. 2025. “Are New Generations of Women More Left-Wing Than Men? Generations and Gender Gaps in Attitudes to Inequality and Social Services.” </a:t>
            </a:r>
            <a:r>
              <a:rPr i="1"/>
              <a:t>Journal of European Public Policy</a:t>
            </a:r>
            <a:r>
              <a:t>, April, 1–28. </a:t>
            </a:r>
            <a:r>
              <a:rPr>
                <a:hlinkClick r:id="rId3"/>
              </a:rPr>
              <a:t>https://doi.org/10.1080/13501763.2025.2490811</a:t>
            </a:r>
            <a:r>
              <a:t>.</a:t>
            </a:r>
          </a:p>
          <a:p>
            <a:pPr marL="0" lvl="0" indent="0">
              <a:buNone/>
            </a:pPr>
            <a:r>
              <a:t>Inglehart, Ronald F. 2018. </a:t>
            </a:r>
            <a:r>
              <a:rPr i="1"/>
              <a:t>Cultural Evolution: People’s Motivations Are Changing, and Reshaping the World</a:t>
            </a:r>
            <a:r>
              <a:t>. 1st ed. Cambridge University Press. </a:t>
            </a:r>
            <a:r>
              <a:rPr>
                <a:hlinkClick r:id="rId4"/>
              </a:rPr>
              <a:t>https://doi.org/10.1017/9781108613880</a:t>
            </a:r>
            <a:r>
              <a:t>.</a:t>
            </a:r>
          </a:p>
          <a:p>
            <a:pPr marL="0" lvl="0" indent="0">
              <a:buNone/>
            </a:pPr>
            <a:r>
              <a:t>Lupu, Noam, and Jonas Pontusson, eds. 2023. </a:t>
            </a:r>
            <a:r>
              <a:rPr i="1"/>
              <a:t>Unequal Democracies: Public Policy, Responsiveness, and Redistribution in an Era of Rising Economic Inequality</a:t>
            </a:r>
            <a:r>
              <a:t>. 1st ed. Cambridge University Press. </a:t>
            </a:r>
            <a:r>
              <a:rPr>
                <a:hlinkClick r:id="rId5"/>
              </a:rPr>
              <a:t>https://doi.org/10.1017/9781009428682</a:t>
            </a:r>
            <a:r>
              <a:t>.</a:t>
            </a:r>
          </a:p>
          <a:p>
            <a:pPr marL="0" lvl="0" indent="0">
              <a:buNone/>
            </a:pPr>
            <a:r>
              <a:t>Oorschot, Wim van, and Femke Roosma. 2017. “The Social Legitimacy of Differently Targeted Benefits.”</a:t>
            </a:r>
          </a:p>
          <a:p>
            <a:pPr marL="0" lvl="0" indent="0">
              <a:buNone/>
            </a:pPr>
            <a:r>
              <a:t>Shorrocks, Rosalind, and Maria T. Grasso. 2020. “The Attitudinal Gender Gap Across Generations: Support for Redistribution and Government Spending in Contexts of High and Low Welfare Provision.” </a:t>
            </a:r>
            <a:r>
              <a:rPr i="1"/>
              <a:t>European Political Science Review</a:t>
            </a:r>
            <a:r>
              <a:t> 12 (3): 289–306. </a:t>
            </a:r>
            <a:r>
              <a:rPr>
                <a:hlinkClick r:id="rId6"/>
              </a:rPr>
              <a:t>https://doi.org/10.1017/S1755773920000120</a:t>
            </a:r>
            <a:r>
              <a:t>.</a:t>
            </a:r>
          </a:p>
          <a:p>
            <a:pPr marL="0" lvl="0" indent="0">
              <a:buNone/>
            </a:pPr>
            <a:r>
              <a:t>Steele, Liza G., Joseph Nathan Cohen, and Joseph R. Van Der Naald. 2022. “Wealth, Income, and Preferences for Redistribution: Evidence from 30 Countries.” </a:t>
            </a:r>
            <a:r>
              <a:rPr i="1"/>
              <a:t>Social Science Research</a:t>
            </a:r>
            <a:r>
              <a:t> 108 (November): 102746. </a:t>
            </a:r>
            <a:r>
              <a:rPr>
                <a:hlinkClick r:id="rId7"/>
              </a:rPr>
              <a:t>https://doi.org/10.1016/j.ssresearch.2022.102746</a:t>
            </a:r>
            <a:r>
              <a:t>.</a:t>
            </a:r>
          </a:p>
          <a:p>
            <a:pPr marL="0" lvl="0" indent="0">
              <a:buNone/>
            </a:pPr>
            <a:r>
              <a:t>Velev, Valentin, and Alexander W Schmidt-Catran. 2024. “Economic Inequality and Public Support for Redistribution in Europe: A Cross-Sectional and Longitudinal Multilevel Analysis.” </a:t>
            </a:r>
            <a:r>
              <a:rPr i="1"/>
              <a:t>International Journal of Public Opinion Research</a:t>
            </a:r>
            <a:r>
              <a:t> 36 (4): edae055. </a:t>
            </a:r>
            <a:r>
              <a:rPr>
                <a:hlinkClick r:id="rId8"/>
              </a:rPr>
              <a:t>https://doi.org/10.1093/ijpor/edae055</a:t>
            </a: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Macintosh PowerPoint</Application>
  <PresentationFormat>On-screen Show (16:9)</PresentationFormat>
  <Paragraphs>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Public support for welfare and redistributive policies in Ireland</vt:lpstr>
      <vt:lpstr>Why?</vt:lpstr>
      <vt:lpstr>Questions</vt:lpstr>
      <vt:lpstr>Literature</vt:lpstr>
      <vt:lpstr>Societal level influences</vt:lpstr>
      <vt:lpstr>Socio-demographic predictors</vt:lpstr>
      <vt:lpstr>Methods</vt:lpstr>
      <vt:lpstr>Data sources</vt:lpstr>
      <vt:lpstr>Key findings</vt:lpstr>
      <vt:lpstr>Support for government action</vt:lpstr>
      <vt:lpstr>Agreement by sex 2002–2024</vt:lpstr>
      <vt:lpstr>Agreement by SES 2002-2024</vt:lpstr>
      <vt:lpstr>Other positive associations</vt:lpstr>
      <vt:lpstr>Deservingness and beliefs</vt:lpstr>
      <vt:lpstr>Who should receive higher priority from the government</vt:lpstr>
      <vt:lpstr>Beliefs about social benefits</vt:lpstr>
      <vt:lpstr>Perceptions on fairness</vt:lpstr>
      <vt:lpstr>Taxes</vt:lpstr>
      <vt:lpstr>Change over time</vt:lpstr>
      <vt:lpstr>Support for government action</vt:lpstr>
      <vt:lpstr>COVID19</vt:lpstr>
      <vt:lpstr>Government campaign</vt:lpstr>
      <vt:lpstr>Government campaign</vt:lpstr>
      <vt:lpstr>Government campaign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support for welfare and redistributive policies in Ireland</dc:title>
  <dc:creator>Daniel Capistrano, Bertrand Maître and Helen Russell</dc:creator>
  <cp:keywords/>
  <cp:lastModifiedBy>Daniel Capistrano</cp:lastModifiedBy>
  <cp:revision>1</cp:revision>
  <dcterms:created xsi:type="dcterms:W3CDTF">2026-02-16T21:24:04Z</dcterms:created>
  <dcterms:modified xsi:type="dcterms:W3CDTF">2026-02-16T21:25:20Z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_assets/CFI_Redistribution.bib</vt:lpwstr>
  </property>
  <property fmtid="{D5CDD505-2E9C-101B-9397-08002B2CF9AE}" pid="5" name="by-author">
    <vt:lpwstr/>
  </property>
  <property fmtid="{D5CDD505-2E9C-101B-9397-08002B2CF9AE}" pid="6" name="date">
    <vt:lpwstr>February 2026</vt:lpwstr>
  </property>
  <property fmtid="{D5CDD505-2E9C-101B-9397-08002B2CF9AE}" pid="7" name="date-format">
    <vt:lpwstr>MMMM YYYY</vt:lpwstr>
  </property>
  <property fmtid="{D5CDD505-2E9C-101B-9397-08002B2CF9AE}" pid="8" name="editor">
    <vt:lpwstr/>
  </property>
  <property fmtid="{D5CDD505-2E9C-101B-9397-08002B2CF9AE}" pid="9" name="execute">
    <vt:lpwstr/>
  </property>
  <property fmtid="{D5CDD505-2E9C-101B-9397-08002B2CF9AE}" pid="10" name="fotmat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e">
    <vt:lpwstr/>
  </property>
  <property fmtid="{D5CDD505-2E9C-101B-9397-08002B2CF9AE}" pid="15" name="labels">
    <vt:lpwstr/>
  </property>
  <property fmtid="{D5CDD505-2E9C-101B-9397-08002B2CF9AE}" pid="16" name="subtitle">
    <vt:lpwstr/>
  </property>
  <property fmtid="{D5CDD505-2E9C-101B-9397-08002B2CF9AE}" pid="17" name="title-slide-attributes">
    <vt:lpwstr/>
  </property>
  <property fmtid="{D5CDD505-2E9C-101B-9397-08002B2CF9AE}" pid="18" name="toc-title">
    <vt:lpwstr>Table of contents</vt:lpwstr>
  </property>
</Properties>
</file>